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200000" cy="6858000"/>
          </a:xfrm>
          <a:prstGeom prst="rtTriangle">
            <a:avLst/>
          </a:prstGeom>
          <a:solidFill>
            <a:srgbClr val="16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 flipV="1">
            <a:off x="7992000" y="4058000"/>
            <a:ext cx="4200000" cy="28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4B5FD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4B5FD"/>
                </a:solidFill>
                <a:latin typeface="Calibri"/>
              </a:rPr>
              <a:t>1  /  20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000" y="800000"/>
            <a:ext cx="3000000" cy="452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0000" y="1600000"/>
            <a:ext cx="820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0" i="0">
                <a:solidFill>
                  <a:srgbClr val="FFFFFF"/>
                </a:solidFill>
                <a:latin typeface="Alasassy Caps"/>
              </a:rPr>
              <a:t>The dangers to health
of ionising radiation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3600000"/>
            <a:ext cx="4200000" cy="42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3600000"/>
            <a:ext cx="42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IGCSE Edexcel Physics  •  Radioactivity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4200000"/>
            <a:ext cx="70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4B5FD"/>
                </a:solidFill>
                <a:latin typeface="Calibri"/>
              </a:rPr>
              <a:t>Specification 7.15–7.16
Contamination, irradiation, cell damage, mutations and radioactive waste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5300000"/>
            <a:ext cx="5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5C542"/>
                </a:solidFill>
                <a:latin typeface="Alasassy Caps"/>
              </a:rPr>
              <a:t>Made by Malak SII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What you need to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2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300000"/>
            <a:ext cx="1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7C3AED"/>
                </a:solidFill>
                <a:latin typeface="Calibri"/>
              </a:rPr>
              <a:t>Pearson Edexcel International GCSE Physics (4PH1) — Radioactivity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00" y="1800000"/>
            <a:ext cx="11300000" cy="1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0000" y="2080000"/>
            <a:ext cx="1600000" cy="44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000" y="2080000"/>
            <a:ext cx="1600000" cy="4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7.4 / 7.5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0000" y="1980000"/>
            <a:ext cx="92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74B"/>
                </a:solidFill>
                <a:latin typeface="Calibri"/>
              </a:rPr>
              <a:t>Know that α, β and γ are ionising radiations from unstable nuclei, and compare ionising power and penetrating power.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000" y="2900000"/>
            <a:ext cx="11300000" cy="1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0000" y="3180000"/>
            <a:ext cx="1600000" cy="44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000" y="3180000"/>
            <a:ext cx="1600000" cy="4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0000" y="3080000"/>
            <a:ext cx="92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74B"/>
                </a:solidFill>
                <a:latin typeface="Calibri"/>
              </a:rPr>
              <a:t>Describe the difference between contamination and irradiation.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000" y="4000000"/>
            <a:ext cx="11300000" cy="1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0000" y="4280000"/>
            <a:ext cx="1600000" cy="44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000" y="4280000"/>
            <a:ext cx="1600000" cy="4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7.16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000" y="4180000"/>
            <a:ext cx="92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74B"/>
                </a:solidFill>
                <a:latin typeface="Calibri"/>
              </a:rPr>
              <a:t>Describe the dangers of ionising radiation: mutations, cell and tissue damage, and problems of radioactive waste — plus how risks are reduced.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000" y="5100000"/>
            <a:ext cx="11300000" cy="1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0000" y="5380000"/>
            <a:ext cx="1600000" cy="44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000" y="5380000"/>
            <a:ext cx="1600000" cy="44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Exam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0000" y="5280000"/>
            <a:ext cx="92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74B"/>
                </a:solidFill>
                <a:latin typeface="Calibri"/>
              </a:rPr>
              <a:t>Use the correct terms, link ionisation to DNA damage, and explain why α is most dangerous inside the body.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What is ionising radiation?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3  /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1400000"/>
            <a:ext cx="7200000" cy="4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" y="1600000"/>
            <a:ext cx="6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Ionising radiation is radiation with enough energy to remove electrons from atoms, forming ions.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That is why it can damage living cells: it changes atoms and molecules inside the body.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C3AED"/>
                </a:solidFill>
                <a:latin typeface="Calibri"/>
              </a:rPr>
              <a:t>Examples you must know: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Alpha particles (α)  — helium nuclei (2 protons + 2 neutrons)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Beta particles (β)  — fast electrons from the nucleus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Gamma rays (γ)  — high-energy electromagnetic waves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X-rays  — also EM waves; produced in X-ray tubes, not by nuclei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Neutron radiation is also on the specification for nuclear equations, but α, β and γ are the main ionising types discussed for health hazards.</a:t>
            </a:r>
          </a:p>
        </p:txBody>
      </p:sp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000" y="1600000"/>
            <a:ext cx="4000000" cy="1960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800000" y="3800000"/>
            <a:ext cx="4000000" cy="240000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0" y="4000000"/>
            <a:ext cx="36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5C542"/>
                </a:solidFill>
                <a:latin typeface="Alasassy Caps"/>
              </a:rPr>
              <a:t>Key idea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Non-ionising radiation (radio, microwaves, visible light) does not have enough energy to knock electrons off atoms.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Only ionising radiation can directly damage DNA this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Comparing α, β and 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4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250000"/>
            <a:ext cx="11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1">
                <a:solidFill>
                  <a:srgbClr val="5B577A"/>
                </a:solidFill>
                <a:latin typeface="Calibri"/>
              </a:rPr>
              <a:t>You distinguish them by nature, charge, ionising power and penetrating power.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0000" y="1650000"/>
          <a:ext cx="113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2933333"/>
                <a:gridCol w="2933333"/>
                <a:gridCol w="2933334"/>
              </a:tblGrid>
              <a:tr h="542857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Alpha (α)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Beta (β)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Gamma (γ)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Helium nucleus
(2p + 2n)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Fast electron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EM wave
(photon)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Charge / mass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+2  •  heavy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−1  •  light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0  •  no mass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Ionising power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Penetrating power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Very low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  <a:tr h="542857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Stopped 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Paper / skin
/ few cm of air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A few mm of
aluminium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Reduced by thick
lead or concrete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85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Range in air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A few centimetres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Up to ~1 metre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Unlimited (intensity falls)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Why this matters inside the body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5  /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1450000"/>
            <a:ext cx="365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000" y="1450000"/>
            <a:ext cx="3650000" cy="1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1750000"/>
            <a:ext cx="33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E1B4B"/>
                </a:solidFill>
                <a:latin typeface="Calibri"/>
              </a:rPr>
              <a:t>Alpha — most ionising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2600000"/>
            <a:ext cx="33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α particles dump a lot of energy in a very small volume of tissue. They cannot reach organs from outside (skin stops them), but if a source is swallowed, inhaled or in a wound they are the most damaging.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000" y="1450000"/>
            <a:ext cx="365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000" y="1450000"/>
            <a:ext cx="3650000" cy="16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0000" y="1750000"/>
            <a:ext cx="33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E1B4B"/>
                </a:solidFill>
                <a:latin typeface="Calibri"/>
              </a:rPr>
              <a:t>Beta — 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00" y="2600000"/>
            <a:ext cx="33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β particles travel further than α, so they can damage cells a short distance into the body. Thin metal or plastic shielding is used to reduce the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0000" y="1450000"/>
            <a:ext cx="365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0000" y="1450000"/>
            <a:ext cx="3650000" cy="16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0000" y="1750000"/>
            <a:ext cx="33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E1B4B"/>
                </a:solidFill>
                <a:latin typeface="Calibri"/>
              </a:rPr>
              <a:t>Gamma — most penetrating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0000" y="2600000"/>
            <a:ext cx="33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γ rays pass through the body easily. They are weakly ionising per millimetre, but they can irradiate deep organs from outside. Thick lead or concrete is needed to absorb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000" y="5800000"/>
            <a:ext cx="113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7C3AED"/>
                </a:solidFill>
                <a:latin typeface="Calibri"/>
              </a:rPr>
              <a:t>Exam line:  The more strongly ionising the radiation, the more damage it does per millimetre of tissue — but the less far it travels.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How does ionising radiation damage cells?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6  /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1400000"/>
            <a:ext cx="7000000" cy="4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" y="1550000"/>
            <a:ext cx="66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When ionising radiation enters the body, it interacts with atoms and molecules in cells.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This can: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•  Remove electrons (ionisation)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•  Break chemical bonds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•  Damage DNA in the nucleus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•  Create highly reactive molecules (free radicals) from water in the cell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•  Damage or kill cells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If the damage is severe, the cell may die. If damaged DNA is not correctly repaired, the cell may become abnormal and divide out of control.</a:t>
            </a:r>
          </a:p>
        </p:txBody>
      </p:sp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0" y="1500000"/>
            <a:ext cx="4200000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Mutations and cancer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7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280000"/>
            <a:ext cx="1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1">
                <a:solidFill>
                  <a:srgbClr val="5B577A"/>
                </a:solidFill>
                <a:latin typeface="Calibri"/>
              </a:rPr>
              <a:t>A mutation is a change in the DNA of a cell. This is a core 7.16 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00" y="1750000"/>
            <a:ext cx="27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0000" y="1900000"/>
            <a:ext cx="2400000" cy="45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000" y="1900000"/>
            <a:ext cx="2400000" cy="4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1. DNA 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000" y="2500000"/>
            <a:ext cx="2400000" cy="15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Ionising radiation breaks strands or changes bases in DNA.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0000" y="1750000"/>
            <a:ext cx="27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0000" y="1900000"/>
            <a:ext cx="2400000" cy="45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0000" y="1900000"/>
            <a:ext cx="2400000" cy="4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2. Faulty 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0000" y="2500000"/>
            <a:ext cx="2400000" cy="15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The cell may repair the DNA wrongly, or fail to repair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0000" y="1750000"/>
            <a:ext cx="27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0000" y="1900000"/>
            <a:ext cx="2400000" cy="45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0000" y="1900000"/>
            <a:ext cx="2400000" cy="4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3. Mutation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0000" y="2500000"/>
            <a:ext cx="2400000" cy="15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The genetic code is permanently changed.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000" y="1750000"/>
            <a:ext cx="2700000" cy="2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0000" y="1900000"/>
            <a:ext cx="2400000" cy="45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0000" y="1900000"/>
            <a:ext cx="2400000" cy="4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4. Possible cancer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0000" y="2500000"/>
            <a:ext cx="2400000" cy="15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If genes that control cell division are mutated, cells can divide uncontrollably — a tumour / cancer.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000" y="4450000"/>
            <a:ext cx="11300000" cy="175000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000" y="4600000"/>
            <a:ext cx="10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C542"/>
                </a:solidFill>
                <a:latin typeface="Alasassy Caps"/>
              </a:rPr>
              <a:t>Two places mutations matter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Body (somatic) cells  →  may cause cancer in that person later.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Reproductive cells (sperm / egg)  →  a mutation can be passed to offspring.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Higher dose, longer exposure, and more strongly ionising radiation all increase the chance of harmful mutations.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Damage to cells and tissue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8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250000"/>
            <a:ext cx="11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1">
                <a:solidFill>
                  <a:srgbClr val="5B577A"/>
                </a:solidFill>
                <a:latin typeface="Calibri"/>
              </a:rPr>
              <a:t>Effects depend on dose, time of exposure, type of radiation, and which organ is hit.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0000" y="1650000"/>
          <a:ext cx="113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4500000"/>
                <a:gridCol w="4000000"/>
              </a:tblGrid>
              <a:tr h="640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 of effect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Typical result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Cell death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So many cells are killed that the tissue cannot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Burns, hair loss, organ failure at very high dose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Tissue damage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Organs that divide quickly are most sensitive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Skin, bone marrow, gut lining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Mutation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DNA changed; cell still lives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Increased cancer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Sterility / unborn baby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Reproductive tissue or a foetus is exposed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Infertility or harm to a developing baby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20000" y="5050000"/>
            <a:ext cx="11300000" cy="11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000" y="5200000"/>
            <a:ext cx="109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IGCSE focus: you do not need named diseases in detail. You do need: radiation can kill cells / damage tissue, and it can cause mutations that may lead to cancer.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Contamination vs irradiation  (7.15)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9  /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1400000"/>
            <a:ext cx="545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000" y="1600000"/>
            <a:ext cx="2800000" cy="45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000" y="1600000"/>
            <a:ext cx="2800000" cy="4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IRRADIATION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" y="2200000"/>
            <a:ext cx="50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The object / person is exposed to radiation from an outside source.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No radioactive material is transferred.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The person does not become radioactive.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Exposure stops when the source is removed or shielded.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Example: a hospital X-ray; standing near a sealed gamma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0000" y="1400000"/>
            <a:ext cx="545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0000" y="1600000"/>
            <a:ext cx="3200000" cy="45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0000" y="1600000"/>
            <a:ext cx="3200000" cy="4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CONTAMINATION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0000" y="2200000"/>
            <a:ext cx="50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Radioactive material gets onto or into the object / person (dust, liquid, gas).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The person now carries a source and keeps being irradiated.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Especially dangerous if swallowed or inhaled (α inside the body).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Radiation continues until the material is removed or decays.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A274B"/>
                </a:solidFill>
                <a:latin typeface="Calibri"/>
              </a:rPr>
              <a:t>•  Example: radioactive powder on skin; radon gas in lungs.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000" y="5850000"/>
            <a:ext cx="113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7C3AED"/>
                </a:solidFill>
                <a:latin typeface="Calibri"/>
              </a:rPr>
              <a:t>Food and surgical instruments can be irradiated on purpose to kill bacteria — they are not left radioactive.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Side-by-side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10  /  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0000" y="1400000"/>
          <a:ext cx="113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4000000"/>
                <a:gridCol w="4000000"/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Irradiation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Contamination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Radioactive material present?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Object becomes a source?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Stops when you walk away?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Yes (source stays behind)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No — source is on/in you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Can make you radioactive?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Yes (you emit radiation)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Typical prevention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Time, distance, shielding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Sealed sources, gloves, suits, no eating/drinking in labs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X-ray of a broken bone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Spill of radioactive liquid on a bench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Reducing the hazard  —  time, distance, shielding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11  /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1400000"/>
            <a:ext cx="365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000" y="1600000"/>
            <a:ext cx="3250000" cy="50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000" y="1600000"/>
            <a:ext cx="325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" y="2300000"/>
            <a:ext cx="3250000" cy="1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Keep exposure as short as possible. Plan the task. Do not linger near a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000" y="1400000"/>
            <a:ext cx="365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70000" y="1600000"/>
            <a:ext cx="3250000" cy="50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000" y="1600000"/>
            <a:ext cx="325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000" y="2300000"/>
            <a:ext cx="3250000" cy="1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Stay as far away as you can. Use tongs or remote handling. Intensity falls quickly with distance.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0000" y="1400000"/>
            <a:ext cx="365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0000" y="1600000"/>
            <a:ext cx="3250000" cy="50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0000" y="1600000"/>
            <a:ext cx="325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SHIELDING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0000" y="2300000"/>
            <a:ext cx="3250000" cy="1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Put a suitable absorber between you and the source: paper/plastic for β, thick lead or concrete for 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000" y="4400000"/>
            <a:ext cx="11300000" cy="180000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000" y="4550000"/>
            <a:ext cx="1090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C542"/>
                </a:solidFill>
                <a:latin typeface="Alasassy Caps"/>
              </a:rPr>
              <a:t>Other IGCSE precautions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Store sources in lead-lined boxes  •  never point a source at anyone  •  wear gloves / lab coats to avoid contamination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Monitor with a Geiger–Müller detector or photographic film badge  •  radioactive symbol on stores and rooms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 Limit who is allowed near sources  •  do not eat, drink or apply makeup in a radioactivity lab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Which radiation is most dangerous?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12  /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1400000"/>
            <a:ext cx="11300000" cy="150000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" y="1550000"/>
            <a:ext cx="109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Outside the body:  γ (and X-rays) are the main hazard because they penetrate skin and organs.
Inside the body:  α is the worst because it is the most strongly ionising — all its energy is absorbed by nearby cells.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000" y="3100000"/>
          <a:ext cx="113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2500000"/>
                <a:gridCol w="5000000"/>
              </a:tblGrid>
              <a:tr h="650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Biggest risk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Sealed source across the 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α and β may not even reach you; γ can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Source on the skin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Beta (and γ)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α stopped by outer dead skin; β can burn living skin</a:t>
                      </a:r>
                    </a:p>
                  </a:txBody>
                  <a:tcPr anchor="ctr">
                    <a:solidFill>
                      <a:srgbClr val="E9E4F8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A274B"/>
                          </a:solidFill>
                          <a:latin typeface="Calibri"/>
                        </a:rPr>
                        <a:t>Dust inhaled / food swallowed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Alpha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74B"/>
                          </a:solidFill>
                          <a:latin typeface="Calibri"/>
                        </a:rPr>
                        <a:t>No skin barrier; dense ionisation in lungs or gut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Radioactive waste  (7.16)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13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250000"/>
            <a:ext cx="1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1">
                <a:solidFill>
                  <a:srgbClr val="5B577A"/>
                </a:solidFill>
                <a:latin typeface="Calibri"/>
              </a:rPr>
              <a:t>Waste keeps emitting ionising radiation. Some isotopes have half-lives of thousands of years.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00" y="1750000"/>
            <a:ext cx="1130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000" y="2150000"/>
            <a:ext cx="2800000" cy="5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000" y="2150000"/>
            <a:ext cx="28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Nuclear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0" y="2000000"/>
            <a:ext cx="7900000" cy="8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74B"/>
                </a:solidFill>
                <a:latin typeface="Calibri"/>
              </a:rPr>
              <a:t>Spent fuel rods are very hot and highly radioactive. They must be stored, not dumped.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000" y="3200000"/>
            <a:ext cx="1130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000" y="3600000"/>
            <a:ext cx="2800000" cy="5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000" y="3600000"/>
            <a:ext cx="28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Hospitals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0" y="3450000"/>
            <a:ext cx="7900000" cy="8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74B"/>
                </a:solidFill>
                <a:latin typeface="Calibri"/>
              </a:rPr>
              <a:t>Used in diagnosis and cancer treatment. Sources and contaminated items become waste.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000" y="4650000"/>
            <a:ext cx="1130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000" y="5050000"/>
            <a:ext cx="2800000" cy="5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000" y="5050000"/>
            <a:ext cx="28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Industry &amp; 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0" y="4900000"/>
            <a:ext cx="7900000" cy="8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A274B"/>
                </a:solidFill>
                <a:latin typeface="Calibri"/>
              </a:rPr>
              <a:t>Tracers, thickness gauges, labs. Must be collected and stored safely.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How the risks from waste are reduced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14  /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1350000"/>
            <a:ext cx="55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" y="1530000"/>
            <a:ext cx="515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Shielded containers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00" y="1950000"/>
            <a:ext cx="515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Lead, steel or concrete absorbs radiation so workers and the public are not irradiated.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0000" y="1350000"/>
            <a:ext cx="55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000" y="1530000"/>
            <a:ext cx="515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Remote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000" y="1950000"/>
            <a:ext cx="515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Robots or long tongs keep people away from high-activity waste.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000" y="2950000"/>
            <a:ext cx="55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000" y="3130000"/>
            <a:ext cx="515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Cooling / ponds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000" y="3550000"/>
            <a:ext cx="515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Spent fuel is stored under water at first. Water cools it and acts as a shield.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0000" y="2950000"/>
            <a:ext cx="55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000" y="3130000"/>
            <a:ext cx="515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Secure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000" y="3550000"/>
            <a:ext cx="515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Sealed stores stop leaks into soil, air or drinking water (prevents contamination).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000" y="4550000"/>
            <a:ext cx="55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000" y="4730000"/>
            <a:ext cx="515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Deep geological disposal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000" y="5150000"/>
            <a:ext cx="515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Long-lived waste can be buried deep underground, isolated for a very long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0000" y="4550000"/>
            <a:ext cx="555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000" y="4730000"/>
            <a:ext cx="515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Monitor and restrict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000" y="5150000"/>
            <a:ext cx="515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Warning signs, GM monitors, and limited access reduce accidental exposure.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Background radiation  (linked idea 7.10)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15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250000"/>
            <a:ext cx="11000000" cy="4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1">
                <a:solidFill>
                  <a:srgbClr val="5B577A"/>
                </a:solidFill>
                <a:latin typeface="Calibri"/>
              </a:rPr>
              <a:t>We are always exposed to a low level of ionising radiation. It is not usually a large extra risk, but you must know the 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00" y="1800000"/>
            <a:ext cx="365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2000000"/>
            <a:ext cx="33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1B4B"/>
                </a:solidFill>
                <a:latin typeface="Calibri"/>
              </a:rPr>
              <a:t>Radon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2550000"/>
            <a:ext cx="3300000" cy="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From rocks and soil; can collect in buildings. An α emitter if inhaled.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000" y="1800000"/>
            <a:ext cx="365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00" y="2000000"/>
            <a:ext cx="33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1B4B"/>
                </a:solidFill>
                <a:latin typeface="Calibri"/>
              </a:rPr>
              <a:t>Rocks &amp; building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00" y="2550000"/>
            <a:ext cx="3300000" cy="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Natural radioactive isotopes in granite and bricks.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0000" y="1800000"/>
            <a:ext cx="365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0000" y="2000000"/>
            <a:ext cx="33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1B4B"/>
                </a:solidFill>
                <a:latin typeface="Calibri"/>
              </a:rPr>
              <a:t>Cosmic 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0000" y="2550000"/>
            <a:ext cx="3300000" cy="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High-energy radiation from space. Greater in aircraft and at high altitude.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000" y="3900000"/>
            <a:ext cx="365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000" y="4100000"/>
            <a:ext cx="33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1B4B"/>
                </a:solidFill>
                <a:latin typeface="Calibri"/>
              </a:rPr>
              <a:t>Food and drink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00" y="4650000"/>
            <a:ext cx="3300000" cy="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Tiny amounts of natural isotopes (e.g. carbon-14, potassium-40).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000" y="3900000"/>
            <a:ext cx="365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0000" y="4100000"/>
            <a:ext cx="33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1B4B"/>
                </a:solidFill>
                <a:latin typeface="Calibri"/>
              </a:rPr>
              <a:t>Medical 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00" y="4650000"/>
            <a:ext cx="3300000" cy="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X-rays, CT scans, nuclear medicine — useful, but they add a dose.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0000" y="3900000"/>
            <a:ext cx="365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0" y="4100000"/>
            <a:ext cx="33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1B4B"/>
                </a:solidFill>
                <a:latin typeface="Calibri"/>
              </a:rPr>
              <a:t>Nuclear industry / fallout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0000" y="4650000"/>
            <a:ext cx="3300000" cy="9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A274B"/>
                </a:solidFill>
                <a:latin typeface="Calibri"/>
              </a:rPr>
              <a:t>A small fraction of average background in most places.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Uses still involve a hazard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16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250000"/>
            <a:ext cx="11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1">
                <a:solidFill>
                  <a:srgbClr val="5B577A"/>
                </a:solidFill>
                <a:latin typeface="Calibri"/>
              </a:rPr>
              <a:t>7.14 uses of radioactivity — always balanced against 7.16 dangers.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" y="1700000"/>
            <a:ext cx="180000" cy="6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170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Cancer radiotherapy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0000" y="1700000"/>
            <a:ext cx="79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2A274B"/>
                </a:solidFill>
                <a:latin typeface="Calibri"/>
              </a:rPr>
              <a:t>High dose of γ (or other beams) is aimed at a tumour to kill cancer cells. Nearby healthy tissue must be shielded or the beam shaped.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000" y="2450000"/>
            <a:ext cx="180000" cy="600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245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Tracers in medicine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0000" y="2450000"/>
            <a:ext cx="79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2A274B"/>
                </a:solidFill>
                <a:latin typeface="Calibri"/>
              </a:rPr>
              <a:t>A small amount of a short-half-life gamma emitter is swallowed or injected. The patient is briefly irradiated from inside; contamination of other people is controlled.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" y="3200000"/>
            <a:ext cx="180000" cy="6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320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Sterilising equipment / food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0000" y="3200000"/>
            <a:ext cx="79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2A274B"/>
                </a:solidFill>
                <a:latin typeface="Calibri"/>
              </a:rPr>
              <a:t>Gamma irradiation kills bacteria. The objects do not become radioactive.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000" y="3950000"/>
            <a:ext cx="180000" cy="600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395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Smoke alarms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0000" y="3950000"/>
            <a:ext cx="79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2A274B"/>
                </a:solidFill>
                <a:latin typeface="Calibri"/>
              </a:rPr>
              <a:t>Americium-241 (α) ionises air in the detector. The source is sealed so you are not contaminated.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" y="4700000"/>
            <a:ext cx="180000" cy="6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000" y="470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Thickness gauges / industry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0000" y="4700000"/>
            <a:ext cx="79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2A274B"/>
                </a:solidFill>
                <a:latin typeface="Calibri"/>
              </a:rPr>
              <a:t>β or γ through paper, foil or metal. Workers stay behind shielding.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000" y="5450000"/>
            <a:ext cx="180000" cy="60000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545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Nuclear power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0000" y="5450000"/>
            <a:ext cx="79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2A274B"/>
                </a:solidFill>
                <a:latin typeface="Calibri"/>
              </a:rPr>
              <a:t>Fission produces heat and a large amount of radioactive waste that must be stored for a long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Phrases that gain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17  /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000" y="122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000" y="122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0000" y="122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Ionising radiation can remove electrons from atoms in cells.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000" y="173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" y="173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0000" y="173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This can damage or kill cells / damage tissue.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000" y="224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000" y="224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0000" y="224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It can cause mutations in DNA, which may lead to cancer.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000" y="275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" y="275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0000" y="275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Mutations in reproductive cells can be inherited.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000" y="326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000" y="326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0000" y="326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Irradiation is exposure to radiation; the object does not become radioactive.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000" y="377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" y="377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0000" y="377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Contamination is unwanted radioactive material on or in a person / object.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000" y="428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000" y="428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0000" y="428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Alpha is the most ionising, so most dangerous if the source is inside the body.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000" y="479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" y="479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0000" y="479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Gamma is the most penetrating, so most dangerous from outside the body.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000" y="530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000" y="530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0000" y="530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Reduce risk by reducing time, increasing distance, and using shielding.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000" y="5810000"/>
            <a:ext cx="700000" cy="4000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" y="5810000"/>
            <a:ext cx="7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0000" y="5810000"/>
            <a:ext cx="104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A274B"/>
                </a:solidFill>
                <a:latin typeface="Calibri"/>
              </a:rPr>
              <a:t>Radioactive waste remains hazardous for a long time because of long half-lives; store it shielded and isolated.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Practice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18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300000"/>
            <a:ext cx="11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1.  Define ionising radiation. Name the three types emitted by unstable nuclei.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2.  Explain why alpha radiation is more dangerous than gamma radiation if a source is swallowed, but less dangerous if the source is outside the body.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3.  A technician stands near a sealed cobalt-60 source. Is this contamination or irradiation? Explain.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4.  Radioactive powder is spilled on a glove. Identify the hazard and say how the risk should be reduced.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5.  Describe how ionising radiation can cause cancer.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6.  State two problems of disposing of radioactive waste and two ways of reducing the risk.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7.  Give three precautions taken in a school lab when using sealed radioactive sources.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A274B"/>
                </a:solidFill>
                <a:latin typeface="Calibri"/>
              </a:rPr>
              <a:t>8.  Food can be irradiated to kill bacteria. Explain why the food is not radioactive afterwards.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0" y="5458000"/>
            <a:ext cx="1400000" cy="1400000"/>
          </a:xfrm>
          <a:prstGeom prst="rtTriangl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flipH="1">
            <a:off x="9992000" y="0"/>
            <a:ext cx="2200000" cy="11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220000"/>
            <a:ext cx="9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0" i="0">
                <a:solidFill>
                  <a:srgbClr val="FFFFFF"/>
                </a:solidFill>
                <a:latin typeface="Alasassy Caps"/>
              </a:rPr>
              <a:t>Outline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577A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5B577A"/>
                </a:solidFill>
                <a:latin typeface="Calibri"/>
              </a:rPr>
              <a:t>19  /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250000"/>
            <a:ext cx="113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A274B"/>
                </a:solidFill>
                <a:latin typeface="Calibri"/>
              </a:rPr>
              <a:t>1.  Radiation with enough energy to remove electrons / form ions. α, β, γ.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A274B"/>
                </a:solidFill>
                <a:latin typeface="Calibri"/>
              </a:rPr>
              <a:t>2.  Inside: α is highly ionising so it damages nearby cells a lot; γ is weakly ionising. Outside: skin / air stop α, so it does not reach organs; γ penetrates the body.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A274B"/>
                </a:solidFill>
                <a:latin typeface="Calibri"/>
              </a:rPr>
              <a:t>3.  Irradiation — sealed source, no material transferred, technician does not become radioactive.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A274B"/>
                </a:solidFill>
                <a:latin typeface="Calibri"/>
              </a:rPr>
              <a:t>4.  Contamination. Do not touch with bare skin; remove glove as hazardous waste; wash; monitor with a GM detector; prevent powder spreading.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A274B"/>
                </a:solidFill>
                <a:latin typeface="Calibri"/>
              </a:rPr>
              <a:t>5.  Radiation damages DNA → mutation → cell may divide uncontrollably → cancer.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A274B"/>
                </a:solidFill>
                <a:latin typeface="Calibri"/>
              </a:rPr>
              <a:t>6.  Problems: remains radioactive for a long time; can contaminate land/water and harm people. Reduce: shielded containers, remote handling, secure / deep underground storage, restricted access.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A274B"/>
                </a:solidFill>
                <a:latin typeface="Calibri"/>
              </a:rPr>
              <a:t>7.  Any three: tongs; store in lead box; short time; keep distance; never point at people; film badge / GM check; no eating in lab.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A274B"/>
                </a:solidFill>
                <a:latin typeface="Calibri"/>
              </a:rPr>
              <a:t>8.  Irradiation does not transfer radioactive nuclei to the food; only energy is delivered, so the food does not become a source.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5200000" cy="6858000"/>
          </a:xfrm>
          <a:prstGeom prst="rtTriangle">
            <a:avLst/>
          </a:prstGeom>
          <a:solidFill>
            <a:srgbClr val="16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H="1" flipV="1">
            <a:off x="7992000" y="4058000"/>
            <a:ext cx="4200000" cy="2800000"/>
          </a:xfrm>
          <a:prstGeom prst="rtTriangl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6500000"/>
            <a:ext cx="7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4B5FD"/>
                </a:solidFill>
                <a:latin typeface="Calibri"/>
              </a:rPr>
              <a:t>IGCSE Edexcel Physics  •  7.15–7.16  •  Made by Malak SII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00" y="6500000"/>
            <a:ext cx="14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4B5FD"/>
                </a:solidFill>
                <a:latin typeface="Calibri"/>
              </a:rPr>
              <a:t>20  /  20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000" y="1800000"/>
            <a:ext cx="2200000" cy="22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0000" y="1400000"/>
            <a:ext cx="85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0" i="0">
                <a:solidFill>
                  <a:srgbClr val="FFFFFF"/>
                </a:solidFill>
                <a:latin typeface="Alasassy Caps"/>
              </a:rPr>
              <a:t>Remember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700000"/>
            <a:ext cx="85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Ionise  →  damage cells / DNA  →  death or mutation (cancer).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Irradiation ≠ contamination.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Time  •  distance  •  shielding.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Waste: long-lived, must be stored and isolated.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5300000"/>
            <a:ext cx="8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5C542"/>
                </a:solidFill>
                <a:latin typeface="Alasassy Caps"/>
              </a:rPr>
              <a:t>Made by Malak SII   •   IGCSE Edexcel Physics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